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1" r:id="rId9"/>
    <p:sldId id="263" r:id="rId10"/>
    <p:sldId id="264" r:id="rId11"/>
    <p:sldId id="275" r:id="rId12"/>
    <p:sldId id="265" r:id="rId13"/>
    <p:sldId id="266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106D"/>
    <a:srgbClr val="733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731520"/>
            <a:ext cx="2651760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235440" y="1051560"/>
            <a:ext cx="2103120" cy="146304"/>
          </a:xfrm>
          <a:prstGeom prst="rect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8321040" y="1371600"/>
            <a:ext cx="3017520" cy="146304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42241" y="1197525"/>
            <a:ext cx="7609839" cy="13111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rPr sz="5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MediTrack</a:t>
            </a:r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–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Transforming Pharmacy Data into Actionable Insights</a:t>
            </a:r>
            <a:endParaRPr sz="6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04566" y="5961308"/>
            <a:ext cx="3693979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 </a:t>
            </a:r>
            <a:r>
              <a:rPr sz="2400" dirty="0">
                <a:solidFill>
                  <a:schemeClr val="accent5">
                    <a:lumMod val="50000"/>
                  </a:schemeClr>
                </a:solidFill>
              </a:rPr>
              <a:t>Anupriya 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ABC321-6F5D-87B6-6E81-A7B0F59A2ACA}"/>
              </a:ext>
            </a:extLst>
          </p:cNvPr>
          <p:cNvSpPr txBox="1"/>
          <p:nvPr/>
        </p:nvSpPr>
        <p:spPr>
          <a:xfrm>
            <a:off x="731521" y="305692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PROJECT PRESENTATION :</a:t>
            </a:r>
          </a:p>
          <a:p>
            <a:pPr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Phase 1 </a:t>
            </a:r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— </a:t>
            </a:r>
            <a:r>
              <a:rPr lang="en-IN" sz="2400" dirty="0">
                <a:solidFill>
                  <a:srgbClr val="733D9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Python, Data Analysis &amp; SQL</a:t>
            </a:r>
          </a:p>
          <a:p>
            <a:pPr>
              <a:buNone/>
            </a:pPr>
            <a:r>
              <a:rPr lang="en-IN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Phase 2 </a:t>
            </a:r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— </a:t>
            </a:r>
            <a:r>
              <a:rPr lang="en-IN" sz="2400" dirty="0">
                <a:solidFill>
                  <a:srgbClr val="74106D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Power BI Dashboard &amp; Insights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8872D-A58E-6230-F805-89E35DB230A2}"/>
              </a:ext>
            </a:extLst>
          </p:cNvPr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238861-2E2E-963F-883F-B0DBFDAEE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055" y="2011680"/>
            <a:ext cx="3937490" cy="3729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43226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Project Overview &amp;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246645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37160" cy="246645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49377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937759" cy="192200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just">
              <a:lnSpc>
                <a:spcPct val="150000"/>
              </a:lnSpc>
              <a:spcAft>
                <a:spcPts val="7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lang="en-IN" sz="1600" dirty="0">
                <a:solidFill>
                  <a:srgbClr val="263238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MediTrack dataset contains records related to prescriptions, medicines, stock levels and payment status. Looking at these records individually makes it difficult to understand patterns and identify useful information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246645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246645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9377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937759" cy="19241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lang="en-IN" sz="1600" dirty="0">
                <a:solidFill>
                  <a:srgbClr val="263238"/>
                </a:solidFill>
                <a:latin typeface="Aptos"/>
              </a:rPr>
              <a:t>We use Python to explore, clean and analyse the MediTrack dataset. SQL helps us retrieve useful information, while Power BI presents the results in an interactive dashboard.</a:t>
            </a:r>
          </a:p>
          <a:p>
            <a:pPr>
              <a:spcAft>
                <a:spcPts val="7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46607" y="4323198"/>
            <a:ext cx="1069848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9196"/>
                </a:solidFill>
                <a:latin typeface="Aptos"/>
              </a:defRPr>
            </a:pPr>
            <a:r>
              <a:rPr sz="2400" dirty="0"/>
              <a:t>Project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79580"/>
            <a:ext cx="10607040" cy="72635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62843"/>
                </a:solidFill>
                <a:latin typeface="Aptos"/>
              </a:defRPr>
            </a:pPr>
            <a:r>
              <a:rPr lang="en-IN" sz="2000" b="1" dirty="0">
                <a:solidFill>
                  <a:srgbClr val="162843"/>
                </a:solidFill>
                <a:latin typeface="Aptos"/>
              </a:rPr>
              <a:t>How can we analyse the MediTrack dataset to better understand prescription activity, medicine demand, stock levels and payment status?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Objectives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492240" cy="4121641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/>
              <a:t>•  Inspect the dataset structure, data types, missing values and duplicates.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/>
              <a:t>•  Clean the data using appropriate handling for missing values, duplicates and data types.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/>
              <a:t>•  Create 8–10 charts in Python to explore key fields and relationships.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/>
              <a:t>•  Use required SQL operations to filter, group, sort and aggregate data.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/>
              <a:t>•  Build a Power BI dashboard with KPI cards, visuals and interactive slicers.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/>
              <a:t>•  Summarise observations and validate dashboard totals against the cleaned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08760"/>
            <a:ext cx="3566160" cy="141732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726679" y="1508760"/>
            <a:ext cx="82296" cy="14173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27848" y="1645919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075688"/>
            <a:ext cx="32004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dirty="0"/>
              <a:t>Python + Pandas + Matplotlib/Seaborn +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154680"/>
            <a:ext cx="3566160" cy="141732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7726679" y="3154680"/>
            <a:ext cx="82296" cy="141732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927848" y="3291840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721608"/>
            <a:ext cx="32004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dirty="0"/>
              <a:t>Power BI + DAX measures + slicers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7033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End-to-End Workflow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291" y="932688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rPr dirty="0"/>
              <a:t>SYSTEM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4173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3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987552" y="1417320"/>
            <a:ext cx="438912" cy="438912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1490472"/>
            <a:ext cx="4389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2344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843"/>
                </a:solidFill>
                <a:latin typeface="Aptos"/>
              </a:defRPr>
            </a:pPr>
            <a:r>
              <a:rPr dirty="0"/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70048"/>
            <a:ext cx="1197864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C76"/>
                </a:solidFill>
                <a:latin typeface="Aptos"/>
              </a:defRPr>
            </a:pPr>
            <a:r>
              <a:rPr dirty="0"/>
              <a:t>meditrack_dataset.csv</a:t>
            </a:r>
          </a:p>
        </p:txBody>
      </p:sp>
      <p:sp>
        <p:nvSpPr>
          <p:cNvPr id="11" name="Chevron 10"/>
          <p:cNvSpPr/>
          <p:nvPr/>
        </p:nvSpPr>
        <p:spPr>
          <a:xfrm>
            <a:off x="2039112" y="2468880"/>
            <a:ext cx="320040" cy="411480"/>
          </a:xfrm>
          <a:prstGeom prst="chevron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2450592" y="1828800"/>
            <a:ext cx="14173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3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2935224" y="1417320"/>
            <a:ext cx="438912" cy="438912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935224" y="1490472"/>
            <a:ext cx="4389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057400"/>
            <a:ext cx="12344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843"/>
                </a:solidFill>
                <a:latin typeface="Aptos"/>
              </a:defRPr>
            </a:pPr>
            <a:r>
              <a:rPr dirty="0"/>
              <a:t>Inspect &amp;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670048"/>
            <a:ext cx="1197864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C76"/>
                </a:solidFill>
                <a:latin typeface="Aptos"/>
              </a:defRPr>
            </a:pPr>
            <a:r>
              <a:rPr dirty="0"/>
              <a:t>Pandas / Google Colab</a:t>
            </a:r>
          </a:p>
        </p:txBody>
      </p:sp>
      <p:sp>
        <p:nvSpPr>
          <p:cNvPr id="17" name="Chevron 16"/>
          <p:cNvSpPr/>
          <p:nvPr/>
        </p:nvSpPr>
        <p:spPr>
          <a:xfrm>
            <a:off x="3986784" y="2468880"/>
            <a:ext cx="320040" cy="411480"/>
          </a:xfrm>
          <a:prstGeom prst="chevron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398264" y="1828800"/>
            <a:ext cx="14173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3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4882896" y="1417320"/>
            <a:ext cx="438912" cy="438912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882896" y="1490472"/>
            <a:ext cx="4389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3" y="2057400"/>
            <a:ext cx="12344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843"/>
                </a:solidFill>
                <a:latin typeface="Aptos"/>
              </a:defRPr>
            </a:pPr>
            <a:r>
              <a:rPr dirty="0"/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670048"/>
            <a:ext cx="1197864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C76"/>
                </a:solidFill>
                <a:latin typeface="Aptos"/>
              </a:defRPr>
            </a:pPr>
            <a:r>
              <a:rPr dirty="0"/>
              <a:t>10 Python charts</a:t>
            </a:r>
          </a:p>
        </p:txBody>
      </p:sp>
      <p:sp>
        <p:nvSpPr>
          <p:cNvPr id="23" name="Chevron 22"/>
          <p:cNvSpPr/>
          <p:nvPr/>
        </p:nvSpPr>
        <p:spPr>
          <a:xfrm>
            <a:off x="5934455" y="2468880"/>
            <a:ext cx="320040" cy="411480"/>
          </a:xfrm>
          <a:prstGeom prst="chevron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6345936" y="1828800"/>
            <a:ext cx="14173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3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Oval 24"/>
          <p:cNvSpPr/>
          <p:nvPr/>
        </p:nvSpPr>
        <p:spPr>
          <a:xfrm>
            <a:off x="6830568" y="1417320"/>
            <a:ext cx="438912" cy="438912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830568" y="1490472"/>
            <a:ext cx="4389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057400"/>
            <a:ext cx="12344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843"/>
                </a:solidFill>
                <a:latin typeface="Aptos"/>
              </a:defRPr>
            </a:pPr>
            <a:r>
              <a:rPr dirty="0"/>
              <a:t>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670048"/>
            <a:ext cx="1197864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C76"/>
                </a:solidFill>
                <a:latin typeface="Aptos"/>
              </a:defRPr>
            </a:pPr>
            <a:r>
              <a:rPr dirty="0"/>
              <a:t>SQL operations</a:t>
            </a:r>
          </a:p>
        </p:txBody>
      </p:sp>
      <p:sp>
        <p:nvSpPr>
          <p:cNvPr id="29" name="Chevron 28"/>
          <p:cNvSpPr/>
          <p:nvPr/>
        </p:nvSpPr>
        <p:spPr>
          <a:xfrm>
            <a:off x="7882128" y="2468880"/>
            <a:ext cx="320040" cy="411480"/>
          </a:xfrm>
          <a:prstGeom prst="chevron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8293608" y="1828800"/>
            <a:ext cx="14173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3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Oval 30"/>
          <p:cNvSpPr/>
          <p:nvPr/>
        </p:nvSpPr>
        <p:spPr>
          <a:xfrm>
            <a:off x="8778240" y="1417320"/>
            <a:ext cx="438912" cy="438912"/>
          </a:xfrm>
          <a:prstGeom prst="ellipse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8778240" y="1490472"/>
            <a:ext cx="4389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2057400"/>
            <a:ext cx="1234440" cy="572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843"/>
                </a:solidFill>
                <a:latin typeface="Aptos"/>
              </a:defRPr>
            </a:pPr>
            <a:r>
              <a:rPr dirty="0"/>
              <a:t>Model &amp; visualise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2670048"/>
            <a:ext cx="1197864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C76"/>
                </a:solidFill>
                <a:latin typeface="Aptos"/>
              </a:defRPr>
            </a:pPr>
            <a:r>
              <a:rPr dirty="0"/>
              <a:t>Power BI / DAX</a:t>
            </a:r>
          </a:p>
        </p:txBody>
      </p:sp>
      <p:sp>
        <p:nvSpPr>
          <p:cNvPr id="35" name="Chevron 34"/>
          <p:cNvSpPr/>
          <p:nvPr/>
        </p:nvSpPr>
        <p:spPr>
          <a:xfrm>
            <a:off x="9829800" y="2468880"/>
            <a:ext cx="320040" cy="411480"/>
          </a:xfrm>
          <a:prstGeom prst="chevron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10241280" y="1828800"/>
            <a:ext cx="14173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3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Oval 36"/>
          <p:cNvSpPr/>
          <p:nvPr/>
        </p:nvSpPr>
        <p:spPr>
          <a:xfrm>
            <a:off x="10725911" y="1417320"/>
            <a:ext cx="438912" cy="438912"/>
          </a:xfrm>
          <a:prstGeom prst="ellipse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10725911" y="1490472"/>
            <a:ext cx="4389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9" y="2057400"/>
            <a:ext cx="12344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843"/>
                </a:solidFill>
                <a:latin typeface="Aptos"/>
              </a:defRPr>
            </a:pPr>
            <a:r>
              <a:rPr dirty="0"/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7" y="2670048"/>
            <a:ext cx="1197864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C76"/>
                </a:solidFill>
                <a:latin typeface="Aptos"/>
              </a:defRPr>
            </a:pPr>
            <a:r>
              <a:rPr dirty="0"/>
              <a:t>Insights +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Technology Stack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rPr dirty="0"/>
              <a:t>TOOLS USED ACROSS BOTH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154680" cy="15544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5544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463039"/>
            <a:ext cx="2788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Python + 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278892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rPr dirty="0"/>
              <a:t>Dataset inspection, dataframe operations and cleaning.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154680" cy="15544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82296" cy="15544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361688" y="1463039"/>
            <a:ext cx="2788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Matplotlib + Seaborn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92807"/>
            <a:ext cx="278892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rPr dirty="0"/>
              <a:t>10-chart exploratory analysis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25880"/>
            <a:ext cx="3154680" cy="15544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7635240" y="1325880"/>
            <a:ext cx="82296" cy="15544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836408" y="1463039"/>
            <a:ext cx="2788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1892807"/>
            <a:ext cx="278892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rPr dirty="0"/>
              <a:t>SELECT, WHERE, ORDER BY, GROUP BY, HAVING, DISTINCT and aggregate functions.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3154680" cy="15544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82296" cy="155448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86968" y="3566160"/>
            <a:ext cx="2788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Google Colab / Jupyter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8"/>
            <a:ext cx="278892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rPr dirty="0"/>
              <a:t>Notebook-based execution of Python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429000"/>
            <a:ext cx="3154680" cy="15544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4160520" y="3429000"/>
            <a:ext cx="82296" cy="155448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361688" y="3566160"/>
            <a:ext cx="2788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995928"/>
            <a:ext cx="278892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rPr dirty="0"/>
              <a:t>KPI cards, charts, slicers and report pages.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429000"/>
            <a:ext cx="3154680" cy="15544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7635240" y="3429000"/>
            <a:ext cx="82296" cy="155448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836408" y="3566160"/>
            <a:ext cx="2788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DAX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3995928"/>
            <a:ext cx="278892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238"/>
                </a:solidFill>
                <a:latin typeface="Aptos"/>
              </a:defRPr>
            </a:pPr>
            <a:r>
              <a:rPr dirty="0"/>
              <a:t>Measures for quantity, low-stock row count and payment-status percentage.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35970"/>
            <a:ext cx="1097280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sz="3200" dirty="0"/>
              <a:t>Phase 1 — Data Exploration &amp;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887" y="1025973"/>
            <a:ext cx="107899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rPr sz="1600" dirty="0"/>
              <a:t>PYTHON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887" y="1469755"/>
            <a:ext cx="5120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196"/>
                </a:solidFill>
                <a:latin typeface="Aptos"/>
              </a:defRPr>
            </a:pPr>
            <a:r>
              <a:rPr dirty="0"/>
              <a:t>Preparation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40564"/>
            <a:ext cx="4983480" cy="367793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Load the MediTrack dataset from a CSV file using Pandas.</a:t>
            </a:r>
          </a:p>
          <a:p>
            <a:pPr lvl="0"/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Check the number of rows and columns, column names, data types, missing values and duplicate records.</a:t>
            </a:r>
          </a:p>
          <a:p>
            <a:pPr lvl="0"/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Clean the data by handling missing values, duplicates and data types where needed.</a:t>
            </a:r>
          </a:p>
          <a:p>
            <a:pPr lvl="0"/>
            <a:endParaRPr lang="en-IN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the cleaned dataset for visualisation and further analysis.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89320" y="1463328"/>
            <a:ext cx="5212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9196"/>
                </a:solidFill>
                <a:latin typeface="Aptos"/>
              </a:defRPr>
            </a:pPr>
            <a:r>
              <a:rPr dirty="0"/>
              <a:t>Fields used in the provided chart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40564"/>
            <a:ext cx="5029200" cy="5047536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PaymentStatus: Compare payment counts and total amounts by payment status.</a:t>
            </a:r>
          </a:p>
          <a:p>
            <a:pPr lvl="0" algn="just"/>
            <a:endParaRPr lang="en-IN" dirty="0"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MedicationName &amp; DoctorName: Identify the top 10 medicines and doctors by record count.</a:t>
            </a:r>
          </a:p>
          <a:p>
            <a:pPr lvl="0" algn="just"/>
            <a:endParaRPr lang="en-IN" dirty="0"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TotalAmount: Understand the distribution of amounts and compare amounts across payment statuses.</a:t>
            </a:r>
          </a:p>
          <a:p>
            <a:pPr lvl="0" algn="just"/>
            <a:endParaRPr lang="en-IN" dirty="0"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StockQuantity: Explore stock levels and identify records with low stock.</a:t>
            </a:r>
          </a:p>
          <a:p>
            <a:pPr lvl="0" algn="just"/>
            <a:endParaRPr lang="en-IN" dirty="0"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Quantity &amp; UnitPrice: Examine the relationship between quantity and amount, and understand the distribution of medicine prices.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53901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843"/>
                </a:solidFill>
              </a:defRPr>
            </a:pPr>
            <a:r>
              <a:rPr sz="3200" dirty="0"/>
              <a:t>Phase 1 — Dataset &amp;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14300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11950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843"/>
                </a:solidFill>
              </a:defRPr>
            </a:pPr>
            <a:r>
              <a:rPr sz="1600" dirty="0"/>
              <a:t>Dataset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3238"/>
                </a:solidFill>
              </a:defRPr>
            </a:pPr>
            <a:r>
              <a:rPr sz="1600" dirty="0"/>
              <a:t>20,000 rows × 15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14300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99431" y="1435607"/>
            <a:ext cx="1450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843"/>
                </a:solidFill>
              </a:defRPr>
            </a:pPr>
            <a:r>
              <a:rPr sz="1600" dirty="0"/>
              <a:t>Duplicate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801368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3238"/>
                </a:solidFill>
              </a:defRPr>
            </a:pPr>
            <a:r>
              <a:rPr sz="1600" dirty="0"/>
              <a:t>0 exact duplicate rows found in the raw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337560" cy="114300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348471" y="1435607"/>
            <a:ext cx="22427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843"/>
                </a:solidFill>
              </a:defRPr>
            </a:pPr>
            <a:r>
              <a:rPr sz="1600" dirty="0"/>
              <a:t>After notebook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801368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63238"/>
                </a:solidFill>
              </a:defRPr>
            </a:pPr>
            <a:r>
              <a:rPr sz="1600" dirty="0"/>
              <a:t>20,000 rows × 15 columns; no nulls remain in the listed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521208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Missing values in PatientName were filled with “Unknown”.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Phone, DOB and ExpiryDate missing values were filled with “Not Available”.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Missing StockQuantity values were filled with the median.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Numeric fields were converted to numeric types; DateIssued was converted to datetime.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12064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Raw CSV missing values: PatientName 2048; DOB 1999; Phone 1949.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Other raw missing values: ExpiryDate 1990; StockQuantity 1977.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</a:defRPr>
            </a:pPr>
            <a:r>
              <a:rPr sz="1600" dirty="0">
                <a:latin typeface="Aptos" panose="020B0004020202020204" pitchFamily="34" charset="0"/>
              </a:rPr>
              <a:t>•  No rows were removed by duplicate removal because no exact duplicate rows were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843"/>
                </a:solidFill>
              </a:defRPr>
            </a:pPr>
            <a:r>
              <a:rPr dirty="0"/>
              <a:t>Phase 1 — Actual Python Chart Output</a:t>
            </a:r>
          </a:p>
        </p:txBody>
      </p:sp>
      <p:pic>
        <p:nvPicPr>
          <p:cNvPr id="5" name="Picture 4" descr="MediTrack_Actual_Phase1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43000"/>
            <a:ext cx="42124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Phase 1 — 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C76"/>
                </a:solidFill>
                <a:latin typeface="Aptos"/>
              </a:defRPr>
            </a:pPr>
            <a:r>
              <a:rPr dirty="0"/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3749039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82296" cy="3749039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78408" y="1554480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Required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4709159" cy="3063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Core query operations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SELECT — choose columns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WHERE — filter rows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ORDER BY — sort results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DISTINCT — return unique values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GROUP BY — aggregate by category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HAVING — filter grouped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074920" cy="3749039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3749039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Analysis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709159" cy="212930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Aggregate functions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COUNT() — count records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SUM() — calculate totals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AVG() — calculate averages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• MIN() / MAX() — inspect range</a:t>
            </a:r>
          </a:p>
          <a:p>
            <a:pPr>
              <a:spcAft>
                <a:spcPts val="7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Phase 2 —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C76"/>
                </a:solidFill>
                <a:latin typeface="Aptos"/>
              </a:defRPr>
            </a:pPr>
            <a:r>
              <a:rPr dirty="0"/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1488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8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04088" y="1627632"/>
            <a:ext cx="1920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C76"/>
                </a:solidFill>
                <a:latin typeface="Aptos"/>
              </a:defRPr>
            </a:pPr>
            <a:r>
              <a:rPr dirty="0"/>
              <a:t>Total Prescriptions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62843"/>
                </a:solidFill>
                <a:latin typeface="Aptos"/>
              </a:defRPr>
            </a:pPr>
            <a:r>
              <a:rPr dirty="0"/>
              <a:t>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50592"/>
            <a:ext cx="19202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5F6C76"/>
                </a:solidFill>
                <a:latin typeface="Aptos"/>
              </a:defRPr>
            </a:pPr>
            <a:r>
              <a:rPr dirty="0"/>
              <a:t>Displayed, rounded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463040"/>
            <a:ext cx="21488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8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035808" y="1627632"/>
            <a:ext cx="1920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C76"/>
                </a:solidFill>
                <a:latin typeface="Aptos"/>
              </a:defRPr>
            </a:pPr>
            <a:r>
              <a:rPr dirty="0"/>
              <a:t>Total Quantity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1993392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62843"/>
                </a:solidFill>
                <a:latin typeface="Aptos"/>
              </a:defRPr>
            </a:pPr>
            <a:r>
              <a:rPr dirty="0"/>
              <a:t>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450592"/>
            <a:ext cx="19202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5F6C76"/>
                </a:solidFill>
                <a:latin typeface="Aptos"/>
              </a:defRPr>
            </a:pPr>
            <a:r>
              <a:rPr dirty="0"/>
              <a:t>Displayed, rounded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463040"/>
            <a:ext cx="21488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8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367528" y="1627632"/>
            <a:ext cx="1920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C76"/>
                </a:solidFill>
                <a:latin typeface="Aptos"/>
              </a:defRPr>
            </a:pPr>
            <a:r>
              <a:rPr dirty="0"/>
              <a:t>Total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993392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62843"/>
                </a:solidFill>
                <a:latin typeface="Aptos"/>
              </a:defRPr>
            </a:pPr>
            <a:r>
              <a:rPr dirty="0"/>
              <a:t>171.06M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450592"/>
            <a:ext cx="19202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5F6C76"/>
                </a:solidFill>
                <a:latin typeface="Aptos"/>
              </a:defRPr>
            </a:pPr>
            <a:r>
              <a:rPr dirty="0"/>
              <a:t>Displayed, rounded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1463040"/>
            <a:ext cx="21488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8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699247" y="1627632"/>
            <a:ext cx="1920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C76"/>
                </a:solidFill>
                <a:latin typeface="Aptos"/>
              </a:defRPr>
            </a:pPr>
            <a:r>
              <a:rPr dirty="0"/>
              <a:t>Average Prescription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7" y="1993392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62843"/>
                </a:solidFill>
                <a:latin typeface="Aptos"/>
              </a:defRPr>
            </a:pPr>
            <a:r>
              <a:rPr dirty="0"/>
              <a:t>8.55K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7" y="2450592"/>
            <a:ext cx="19202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5F6C76"/>
                </a:solidFill>
                <a:latin typeface="Aptos"/>
              </a:defRPr>
            </a:pPr>
            <a:r>
              <a:rPr dirty="0"/>
              <a:t>Displayed, rounded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463040"/>
            <a:ext cx="21488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8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0030967" y="1627632"/>
            <a:ext cx="1920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5F6C76"/>
                </a:solidFill>
                <a:latin typeface="Aptos"/>
              </a:defRPr>
            </a:pPr>
            <a:r>
              <a:rPr dirty="0"/>
              <a:t>Low-Stock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1993392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62843"/>
                </a:solidFill>
                <a:latin typeface="Aptos"/>
              </a:defRPr>
            </a:pPr>
            <a:r>
              <a:rPr dirty="0"/>
              <a:t>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7" y="2450592"/>
            <a:ext cx="19202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5F6C76"/>
                </a:solidFill>
                <a:latin typeface="Aptos"/>
              </a:defRPr>
            </a:pPr>
            <a:r>
              <a:rPr dirty="0"/>
              <a:t>Displayed, rounded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246120"/>
            <a:ext cx="5120640" cy="150876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731520" y="3246120"/>
            <a:ext cx="82296" cy="15087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32688" y="3383279"/>
            <a:ext cx="4754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Interactive controls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813048"/>
            <a:ext cx="4754879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Medication slicer and Payment Status slicer were tested and reported to 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246120"/>
            <a:ext cx="5120640" cy="150876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6217920" y="3246120"/>
            <a:ext cx="82296" cy="150876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419088" y="3383279"/>
            <a:ext cx="4754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Separate report page confirmed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813048"/>
            <a:ext cx="4754879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Payment Analysis page contains a donut chart for Payment Status Distribution with labels enabled.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78354-E20E-87DC-6BF0-DF9B9AD8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4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Phase 2 — DAX Measures &amp; Stock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C76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0352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3258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463039"/>
            <a:ext cx="49377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Total 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937759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Total Quantity = SUM(meditrack_dataset[Quantity])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82296" cy="132588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463039"/>
            <a:ext cx="49377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Low Stock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92807"/>
            <a:ext cx="4937759" cy="572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Counts rows where StockQuantity &lt; 100; it does not count distinct medication names.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303520" cy="160020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82296" cy="1600200"/>
          </a:xfrm>
          <a:prstGeom prst="rect">
            <a:avLst/>
          </a:prstGeom>
          <a:solidFill>
            <a:srgbClr val="3C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86968" y="3108960"/>
            <a:ext cx="49377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Payment Status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538728"/>
            <a:ext cx="4937759" cy="8032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Uses row count divided by the row count after removing only the PaymentStatus filter. Other active filters remain in effect.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71800"/>
            <a:ext cx="5303520" cy="160020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217920" y="2971800"/>
            <a:ext cx="82296" cy="16002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19088" y="3108960"/>
            <a:ext cx="49377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Low-stock visual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538728"/>
            <a:ext cx="4937759" cy="8032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Medication on X axis and StockQuantity on Y axis, filtered to stock below 100; title: “Low-Stock Medications (Stock Below 100)”.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843"/>
                </a:solidFill>
                <a:latin typeface="Aptos"/>
              </a:defRPr>
            </a:pPr>
            <a:r>
              <a:rPr dirty="0"/>
              <a:t>Current Observations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C76"/>
                </a:solidFill>
                <a:latin typeface="Aptos"/>
              </a:defRPr>
            </a:pPr>
            <a:r>
              <a:rPr dirty="0"/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583680" cy="4401974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lnSpc>
                <a:spcPct val="150000"/>
              </a:lnSpc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dirty="0"/>
              <a:t>•  The Power BI KPI cards show approximately 20K prescription records, 1M quantity, 171.06M total amount, 8.55K average prescription value and 2K low-stock records.</a:t>
            </a:r>
          </a:p>
          <a:p>
            <a:pPr>
              <a:lnSpc>
                <a:spcPct val="150000"/>
              </a:lnSpc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dirty="0"/>
              <a:t>•  The Payment Analysis donut chart was observed to show Partial as the largest payment-status portion under the current report filters/data.</a:t>
            </a:r>
          </a:p>
          <a:p>
            <a:pPr>
              <a:lnSpc>
                <a:spcPct val="150000"/>
              </a:lnSpc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dirty="0"/>
              <a:t>•  The low-stock chart focuses attention on records with StockQuantity below 100.</a:t>
            </a:r>
          </a:p>
          <a:p>
            <a:pPr>
              <a:lnSpc>
                <a:spcPct val="150000"/>
              </a:lnSpc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dirty="0"/>
              <a:t>•  Medication and payment-status slicers allow users to inspect subsets of the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34747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772400" y="1645920"/>
            <a:ext cx="82296" cy="18288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973568" y="1783080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212848"/>
            <a:ext cx="3108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dirty="0"/>
              <a:t>A single report makes key activity measures easier to review and compare.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794760"/>
            <a:ext cx="3474720" cy="1508760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7772400" y="3794760"/>
            <a:ext cx="82296" cy="1508760"/>
          </a:xfrm>
          <a:prstGeom prst="rect">
            <a:avLst/>
          </a:prstGeom>
          <a:solidFill>
            <a:srgbClr val="EF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973568" y="3931920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2843"/>
                </a:solidFill>
                <a:latin typeface="Aptos"/>
              </a:defRPr>
            </a:pPr>
            <a:r>
              <a:rPr dirty="0"/>
              <a:t>Important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361688"/>
            <a:ext cx="3108960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238"/>
                </a:solidFill>
                <a:latin typeface="Aptos"/>
              </a:defRPr>
            </a:pPr>
            <a:r>
              <a:rPr dirty="0"/>
              <a:t>These are descriptive observations, not proof of causation or a forecast.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0D9BE3D-136D-645D-4FB2-E48B3E807992}"/>
              </a:ext>
            </a:extLst>
          </p:cNvPr>
          <p:cNvSpPr/>
          <p:nvPr/>
        </p:nvSpPr>
        <p:spPr>
          <a:xfrm>
            <a:off x="481584" y="2194560"/>
            <a:ext cx="260096" cy="31089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393804E5-24F1-593F-E17F-5AE38E51161A}"/>
              </a:ext>
            </a:extLst>
          </p:cNvPr>
          <p:cNvSpPr/>
          <p:nvPr/>
        </p:nvSpPr>
        <p:spPr>
          <a:xfrm>
            <a:off x="741680" y="2078356"/>
            <a:ext cx="10820400" cy="3377564"/>
          </a:xfrm>
          <a:prstGeom prst="roundRect">
            <a:avLst/>
          </a:prstGeom>
          <a:solidFill>
            <a:srgbClr val="EFF6F9"/>
          </a:solidFill>
          <a:ln>
            <a:solidFill>
              <a:srgbClr val="DC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2D570-4813-894B-6BCF-EFF7F8B5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75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Aptos" panose="020B0004020202020204" pitchFamily="34" charset="0"/>
              </a:rPr>
              <a:t>Conlusion</a:t>
            </a:r>
            <a:endParaRPr lang="en-IN" sz="40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C830-24E3-534E-9979-D14D56A07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94560"/>
            <a:ext cx="11064240" cy="383540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Aptos" panose="020B0004020202020204" pitchFamily="34" charset="0"/>
              </a:rPr>
              <a:t>Analyzed the MediTrack pharmacy dataset using Python, SQL, and Power BI.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Aptos" panose="020B0004020202020204" pitchFamily="34" charset="0"/>
              </a:rPr>
              <a:t>Studied prescription amounts, payment status, and medicine stock quantities.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Aptos" panose="020B0004020202020204" pitchFamily="34" charset="0"/>
              </a:rPr>
              <a:t>Created charts and KPI cards to understand the data easily.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Aptos" panose="020B0004020202020204" pitchFamily="34" charset="0"/>
              </a:rPr>
              <a:t>Identified medicines with low stock to help monitor inventory.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Aptos" panose="020B0004020202020204" pitchFamily="34" charset="0"/>
              </a:rPr>
              <a:t>This project helped me understand how data analytics can support better pharmacy management and decision-making.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225699-4535-A258-7804-45E64D14AF9D}"/>
              </a:ext>
            </a:extLst>
          </p:cNvPr>
          <p:cNvSpPr/>
          <p:nvPr/>
        </p:nvSpPr>
        <p:spPr>
          <a:xfrm>
            <a:off x="0" y="0"/>
            <a:ext cx="12191695" cy="274638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4210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5FD4-11DD-5011-E1C9-20718E2E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240" y="2062798"/>
            <a:ext cx="9276080" cy="2976562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r>
              <a:rPr lang="en-US" sz="9600" dirty="0">
                <a:ln>
                  <a:solidFill>
                    <a:srgbClr val="FFFF00"/>
                  </a:solidFill>
                </a:ln>
                <a:solidFill>
                  <a:schemeClr val="accent5">
                    <a:lumMod val="5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  <a:endParaRPr lang="en-IN" sz="9600" dirty="0">
              <a:ln>
                <a:solidFill>
                  <a:srgbClr val="FFFF00"/>
                </a:solidFill>
              </a:ln>
              <a:solidFill>
                <a:schemeClr val="accent5">
                  <a:lumMod val="50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D5980-796F-B17D-D27C-01B2259949C4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754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1072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MediTrack: Pharmacy Data Analytics Dashboard — Updated with Uploaded Evidence</dc:title>
  <dc:subject>Phase 1 and Phase 2 project presentation</dc:subject>
  <dc:creator>Anupriya S.</dc:creator>
  <cp:keywords>MediTrack, Python, SQL, Power BI, pharmacy analytics</cp:keywords>
  <dc:description>generated using python-pptx</dc:description>
  <cp:lastModifiedBy>delljs10p04@outlook.com</cp:lastModifiedBy>
  <cp:revision>17</cp:revision>
  <dcterms:created xsi:type="dcterms:W3CDTF">2013-01-27T09:14:16Z</dcterms:created>
  <dcterms:modified xsi:type="dcterms:W3CDTF">2026-10-22T08:01:29Z</dcterms:modified>
  <cp:category/>
</cp:coreProperties>
</file>